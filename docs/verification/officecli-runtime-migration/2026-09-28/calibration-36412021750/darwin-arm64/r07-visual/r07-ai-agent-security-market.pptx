
<file path=[Content_Types].xml><?xml version="1.0" encoding="utf-8"?>
<Types xmlns="http://schemas.openxmlformats.org/package/2006/content-types">
  <Default Extension="xml" ContentType="application/vnd.openxmlformats-officedocument.presentationml.presentation.main+xml"/>
  <Default Extension="rels" ContentType="application/vnd.openxmlformats-package.relationships+xml"/>
  <Default Extension="png" ContentType="image/png"/>
  <Override PartName="/ppt/slideMasters/slideMaster1.xml" ContentType="application/vnd.openxmlformats-officedocument.presentationml.slideMaster+xml"/>
  <Override PartName="/ppt/slideLayouts/slideLayout1.xml" ContentType="application/vnd.openxmlformats-officedocument.presentationml.slideLayout+xml"/>
  <Override PartName="/ppt/theme/theme1.xml" ContentType="application/vnd.openxmlformats-officedocument.theme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charts/chart1.xml" ContentType="application/vnd.openxmlformats-officedocument.drawingml.chart+xml"/>
  <Override PartName="/ppt/slides/slide6.xml" ContentType="application/vnd.openxmlformats-officedocument.presentationml.slide+xml"/>
</Types>
</file>

<file path=_rels/.rels>&#65279;<?xml version="1.0" encoding="utf-8"?><Relationships xmlns="http://schemas.openxmlformats.org/package/2006/relationships"><Relationship Type="http://schemas.openxmlformats.org/officeDocument/2006/relationships/officeDocument" Target="/ppt/presentation.xml" Id="Ra1dacb02b2014bb0" /><Relationship Type="http://schemas.openxmlformats.org/package/2006/relationships/metadata/core-properties" Target="/docProps/core.xml" Id="R5a70c3834be5412e" /><Relationship Type="http://schemas.openxmlformats.org/officeDocument/2006/relationships/extended-properties" Target="/docProps/app.xml" Id="R9163e089b6624534" /><Relationship Type="http://schemas.openxmlformats.org/officeDocument/2006/relationships/custom-properties" Target="/docProps/custom.xml" Id="R3fea63d2db5c4288" /></Relationships>
</file>

<file path=ppt/presentation.xml><?xml version="1.0" encoding="utf-8"?>
<p:presentation xmlns:r="http://schemas.openxmlformats.org/officeDocument/2006/relationships" xmlns:p="http://schemas.openxmlformats.org/presentationml/2006/main">
  <p:sldMasterIdLst>
    <p:sldMasterId xmlns:r="http://schemas.openxmlformats.org/officeDocument/2006/relationships" id="2147483648" r:id="rId1"/>
  </p:sldMasterIdLst>
  <p:sldIdLst>
    <p:sldId id="256" r:id="R62342b2d4ec4409a"/>
    <p:sldId id="257" r:id="R876aa8e4d73b4ea4"/>
    <p:sldId id="258" r:id="R86854ffaee2d410e"/>
    <p:sldId id="259" r:id="R1919c6cd80454be9"/>
    <p:sldId id="260" r:id="Raa17b1bf24d145a5"/>
    <p:sldId id="261" r:id="R505bb9fdb66a4321"/>
  </p:sldIdLst>
  <p:sldSz cx="12192000" cy="6858000"/>
  <p:notesSz cx="6858000" cy="9144000"/>
</p:presentation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Id1" /><Relationship Type="http://schemas.openxmlformats.org/officeDocument/2006/relationships/theme" Target="/ppt/theme/theme1.xml" Id="rId2" /><Relationship Type="http://schemas.openxmlformats.org/officeDocument/2006/relationships/slide" Target="/ppt/slides/slide1.xml" Id="R62342b2d4ec4409a" /><Relationship Type="http://schemas.openxmlformats.org/officeDocument/2006/relationships/slide" Target="/ppt/slides/slide2.xml" Id="R876aa8e4d73b4ea4" /><Relationship Type="http://schemas.openxmlformats.org/officeDocument/2006/relationships/slide" Target="/ppt/slides/slide3.xml" Id="R86854ffaee2d410e" /><Relationship Type="http://schemas.openxmlformats.org/officeDocument/2006/relationships/slide" Target="/ppt/slides/slide4.xml" Id="R1919c6cd80454be9" /><Relationship Type="http://schemas.openxmlformats.org/officeDocument/2006/relationships/slide" Target="/ppt/slides/slide5.xml" Id="Raa17b1bf24d145a5" /><Relationship Type="http://schemas.openxmlformats.org/officeDocument/2006/relationships/slide" Target="/ppt/slides/slide6.xml" Id="R505bb9fdb66a4321" /></Relationship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f7981a1d6f9043ea" /></Relationship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96bb6125a77c49dd" /></Relationships>
</file>

<file path=ppt/slideLayouts/_rels/slideLayout3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1dd87bff045409c" /></Relationships>
</file>

<file path=ppt/slideLayouts/_rels/slideLayout4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2d3acdce2d34553" /></Relationships>
</file>

<file path=ppt/slideLayouts/_rels/slideLayout5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4a14e89fc5dc4411" /></Relationships>
</file>

<file path=ppt/slideLayouts/slideLayout1.xml><?xml version="1.0" encoding="utf-8"?>
<p:sldLayout xmlns:p="http://schemas.openxmlformats.org/presentationml/2006/main" type="blank">
  <p:cSld name="Blank">
    <p:spTree>
      <p:nvGrpSpPr>
        <p:cNvPr id="1" name=""/>
        <p:cNvGrpSpPr/>
        <p:nvPr/>
      </p:nvGrpSpPr>
      <p:grpSpPr/>
    </p:spTree>
  </p:cSld>
</p:sldLayout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ctrTitle"/>
          </p:nvPr>
        </p:nvSpPr>
        <p:spPr>
          <a:xfrm xmlns:a="http://schemas.openxmlformats.org/drawingml/2006/main">
            <a:off x="685800" y="2130425"/>
            <a:ext cx="7772400" cy="1470025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Subtitle"/>
          <p:cNvSpPr>
            <a:spLocks xmlns:a="http://schemas.openxmlformats.org/drawingml/2006/main" noGrp="1"/>
          </p:cNvSpPr>
          <p:nvPr>
            <p:ph type="subTitle" idx="1"/>
          </p:nvPr>
        </p:nvSpPr>
        <p:spPr>
          <a:xfrm xmlns:a="http://schemas.openxmlformats.org/drawingml/2006/main">
            <a:off x="1371600" y="3886200"/>
            <a:ext cx="6400800" cy="17526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3.xml><?xml version="1.0" encoding="utf-8"?>
<p:sldLayout xmlns:p="http://schemas.openxmlformats.org/presentationml/2006/main" type="objTx">
  <p:cSld name="Title and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10515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4.xml><?xml version="1.0" encoding="utf-8"?>
<p:sldLayout xmlns:p="http://schemas.openxmlformats.org/presentationml/2006/main" type="twoColTx">
  <p:cSld name="Two Content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3" name="Content Left"/>
          <p:cNvSpPr>
            <a:spLocks xmlns:a="http://schemas.openxmlformats.org/drawingml/2006/main" noGrp="1"/>
          </p:cNvSpPr>
          <p:nvPr>
            <p:ph type="body" idx="1"/>
          </p:nvPr>
        </p:nvSpPr>
        <p:spPr>
          <a:xfrm xmlns:a="http://schemas.openxmlformats.org/drawingml/2006/main">
            <a:off x="838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  <p:sp>
        <p:nvSpPr>
          <p:cNvPr id="4" name="Content Right"/>
          <p:cNvSpPr>
            <a:spLocks xmlns:a="http://schemas.openxmlformats.org/drawingml/2006/main" noGrp="1"/>
          </p:cNvSpPr>
          <p:nvPr>
            <p:ph type="body" idx="2"/>
          </p:nvPr>
        </p:nvSpPr>
        <p:spPr>
          <a:xfrm xmlns:a="http://schemas.openxmlformats.org/drawingml/2006/main">
            <a:off x="6172200" y="1825625"/>
            <a:ext cx="5181600" cy="4351338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Layouts/slideLayout5.xml><?xml version="1.0" encoding="utf-8"?>
<p:sldLayout xmlns:p="http://schemas.openxmlformats.org/presentationml/2006/main" type="titleOnly">
  <p:cSld name="Title Only">
    <p:spTree>
      <p:nvGrpSpPr>
        <p:cNvPr id="1" name=""/>
        <p:cNvGrpSpPr/>
        <p:nvPr/>
      </p:nvGrpSpPr>
      <p:grpSpPr/>
      <p:sp>
        <p:nvSpPr>
          <p:cNvPr id="2" name="Title"/>
          <p:cNvSpPr>
            <a:spLocks xmlns:a="http://schemas.openxmlformats.org/drawingml/2006/main" noGrp="1"/>
          </p:cNvSpPr>
          <p:nvPr>
            <p:ph type="title"/>
          </p:nvPr>
        </p:nvSpPr>
        <p:spPr>
          <a:xfrm xmlns:a="http://schemas.openxmlformats.org/drawingml/2006/main">
            <a:off x="838200" y="365125"/>
            <a:ext cx="10515600" cy="1325563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 lang="en-US"/>
          </a:p>
        </p:txBody>
      </p:sp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Id1" /><Relationship Type="http://schemas.openxmlformats.org/officeDocument/2006/relationships/theme" Target="/ppt/theme/theme1.xml" Id="R388789dbf70c43bc" /><Relationship Type="http://schemas.openxmlformats.org/officeDocument/2006/relationships/slideLayout" Target="/ppt/slideLayouts/slideLayout2.xml" Id="rId2" /><Relationship Type="http://schemas.openxmlformats.org/officeDocument/2006/relationships/slideLayout" Target="/ppt/slideLayouts/slideLayout3.xml" Id="rId3" /><Relationship Type="http://schemas.openxmlformats.org/officeDocument/2006/relationships/slideLayout" Target="/ppt/slideLayouts/slideLayout4.xml" Id="rId4" /><Relationship Type="http://schemas.openxmlformats.org/officeDocument/2006/relationships/slideLayout" Target="/ppt/slideLayouts/slideLayout5.xml" Id="rId5" /></Relationships>
</file>

<file path=ppt/slideMasters/slideMaster1.xml><?xml version="1.0" encoding="utf-8"?>
<p:sldMaster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/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Id1"/>
    <p:sldLayoutId xmlns:r="http://schemas.openxmlformats.org/officeDocument/2006/relationships" id="2147483650" r:id="rId2"/>
    <p:sldLayoutId xmlns:r="http://schemas.openxmlformats.org/officeDocument/2006/relationships" id="2147483651" r:id="rId3"/>
    <p:sldLayoutId xmlns:r="http://schemas.openxmlformats.org/officeDocument/2006/relationships" id="2147483652" r:id="rId4"/>
    <p:sldLayoutId xmlns:r="http://schemas.openxmlformats.org/officeDocument/2006/relationships" id="2147483653" r:id="rId5"/>
  </p:sldLayoutIdLst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e82d6a5581b4e9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68dbd6be1674567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de3b791734a54a72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88917b99ff5740c3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e1ff033c320447d9" /><Relationship Type="http://schemas.openxmlformats.org/officeDocument/2006/relationships/chart" Target="/ppt/slides/charts/chart1.xml" Id="R7d7c7eba21704c8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65ab52d8a03940a4" /><Relationship Type="http://schemas.openxmlformats.org/officeDocument/2006/relationships/image" Target="/ppt/media/image.png" Id="R83b9ae9207ea439b" /></Relationships>
</file>

<file path=ppt/slides/charts/chart1.xml><?xml version="1.0" encoding="utf-8"?>
<c:chartSpace xmlns:c="http://schemas.openxmlformats.org/drawingml/2006/chart">
  <c:date1904 val="0"/>
  <c:chart>
    <c:title>
      <c:tx>
        <c:rich>
          <a:bodyPr xmlns:a="http://schemas.openxmlformats.org/drawingml/2006/main"/>
          <a:lstStyle xmlns:a="http://schemas.openxmlformats.org/drawingml/2006/main"/>
          <a:p xmlns:a="http://schemas.openxmlformats.org/drawingml/2006/main">
            <a:pPr>
              <a:defRPr sz="1400" b="1"/>
            </a:pPr>
            <a:r>
              <a:rPr lang="en-US" sz="1400" b="1"/>
              <a:t>市场指标</a:t>
            </a:r>
          </a:p>
        </c:rich>
      </c:tx>
      <c:overlay val="0"/>
    </c:title>
    <c:plotArea>
      <c:layout/>
      <c:barChart>
        <c:barDir val="col"/>
        <c:grouping val="clustered"/>
        <c:varyColors val="0"/>
        <c:ser>
          <c:idx val="0"/>
          <c:order val="0"/>
          <c:tx>
            <c:v>市场指标</c:v>
          </c:tx>
          <c:spPr>
            <a:solidFill xmlns:a="http://schemas.openxmlformats.org/drawingml/2006/main">
              <a:srgbClr val="4472C4"/>
            </a:solidFill>
          </c:spPr>
          <c:invertIfNegative val="0"/>
          <c:cat>
            <c:strLit>
              <c:ptCount val="2"/>
              <c:pt idx="0">
                <c:v>市场规模（亿元）</c:v>
              </c:pt>
              <c:pt idx="1">
                <c:v>企业试点渗透率（%）</c:v>
              </c:pt>
            </c:strLit>
          </c:cat>
          <c:val>
            <c:numLit>
              <c:formatCode>General</c:formatCode>
              <c:ptCount val="2"/>
              <c:pt idx="0">
                <c:v>18.4</c:v>
              </c:pt>
              <c:pt idx="1">
                <c:v>37</c:v>
              </c:pt>
            </c:numLit>
          </c:val>
        </c:ser>
        <c:dLbls>
          <c:showLegendKey val="0"/>
          <c:showVal val="1"/>
          <c:showCatName val="0"/>
          <c:showSerName val="0"/>
          <c:showPercent val="0"/>
        </c:dLbls>
        <c:gapWidth val="150"/>
        <c:axId val="1"/>
        <c:axId val="2"/>
      </c:barChart>
      <c:catAx>
        <c:axId val="1"/>
        <c:scaling>
          <c:orientation val="minMax"/>
        </c:scaling>
        <c:delete val="0"/>
        <c:axPos val="b"/>
        <c:majorTickMark val="out"/>
        <c:minorTickMark val="none"/>
        <c:tickLblPos val="nextTo"/>
        <c:crossAx val="2"/>
        <c:crosses val="autoZero"/>
        <c:auto val="1"/>
        <c:lblAlgn val="ctr"/>
        <c:lblOffset val="100"/>
      </c:catAx>
      <c:valAx>
        <c:axId val="2"/>
        <c:scaling>
          <c:orientation val="minMax"/>
        </c:scaling>
        <c:delete val="0"/>
        <c:axPos val="l"/>
        <c:majorGridlines/>
        <c:numFmt formatCode="General" sourceLinked="1"/>
        <c:majorTickMark val="out"/>
        <c:minorTickMark val="none"/>
        <c:tickLblPos val="nextTo"/>
        <c:crossAx val="1"/>
        <c:crosses val="autoZero"/>
        <c:crossBetween val="between"/>
      </c:valAx>
    </c:plotArea>
    <c:legend>
      <c:legendPos val="b"/>
      <c:overlay val="0"/>
    </c:legend>
    <c:plotVisOnly val="1"/>
    <c:dispBlanksAs val="gap"/>
  </c:chart>
</c:chartSpace>
</file>

<file path=ppt/slides/slide1.xml><?xml version="1.0" encoding="utf-8"?>
<p:sld xmlns:a="http://schemas.openxmlformats.org/drawingml/2006/main" xmlns:p="http://schemas.openxmlformats.org/presentationml/2006/main">
  <p:cSld>
    <p:bg>
      <p:bgPr>
        <a:solidFill xmlns:a="http://schemas.openxmlformats.org/drawingml/2006/main">
          <a:srgbClr val="EAF2FF"/>
        </a:solidFill>
      </p:bgPr>
    </p:bg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封面｜AI Agent 安全市场</a:t>
            </a:r>
          </a:p>
        </p:txBody>
      </p:sp>
      <p:sp>
        <p:nvSpPr>
          <p:cNvPr id="100000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400">
                <a:solidFill>
                  <a:srgbClr val="1F2937"/>
                </a:solidFill>
                <a:latin typeface="Aptos"/>
                <a:ea typeface="Noto Sans CJK SC"/>
              </a:rPr>
              <a:t>从市场机会到可审计的工具调用治理</a:t>
            </a:r>
          </a:p>
        </p:txBody>
      </p:sp>
    </p:spTree>
  </p:cSld>
</p:sld>
</file>

<file path=ppt/slides/slide2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议程｜市场机会与风险</a:t>
            </a:r>
          </a:p>
        </p:txBody>
      </p:sp>
      <p:sp>
        <p:nvSpPr>
          <p:cNvPr id="100001" name="TextBox 2"/>
          <p:cNvSpPr txBox="1"/>
          <p:nvPr/>
        </p:nvSpPr>
        <p:spPr>
          <a:xfrm>
            <a:off x="914400" y="1828800"/>
            <a:ext cx="7315200" cy="914400"/>
          </a:xfrm>
          <a:prstGeom prst="rect">
            <a:avLst/>
          </a:prstGeom>
        </p:spPr>
        <p:txBody>
          <a:bodyPr/>
          <a:lstStyle/>
          <a:p>
            <a:r>
              <a:rPr lang="en-US" sz="2200">
                <a:ea typeface="Noto Sans CJK SC"/>
              </a:rPr>
              <a:t>市场规模、需求结构、风险优先级与下一步行动</a:t>
            </a:r>
          </a:p>
        </p:txBody>
      </p:sp>
      <p:sp>
        <p:nvSpPr>
          <p:cNvPr id="100002" name="TextBox 3"/>
          <p:cNvSpPr/>
          <p:nvPr/>
        </p:nvSpPr>
        <p:spPr>
          <a:xfrm>
            <a:off x="640080" y="2834640"/>
            <a:ext cx="1874520" cy="1874520"/>
          </a:xfrm>
          <a:prstGeom prst="roundRect">
            <a:avLst/>
          </a:prstGeom>
          <a:solidFill>
            <a:srgbClr val="EAF2FF"/>
          </a:solidFill>
          <a:ln w="15240">
            <a:solidFill>
              <a:srgbClr val="4472C4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01 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2026 年市场规模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18.4 亿元｜试点 37%</a:t>
            </a:r>
          </a:p>
        </p:txBody>
      </p:sp>
      <p:sp>
        <p:nvSpPr>
          <p:cNvPr id="100003" name="TextBox 4"/>
          <p:cNvSpPr/>
          <p:nvPr/>
        </p:nvSpPr>
        <p:spPr>
          <a:xfrm>
            <a:off x="2697480" y="2834640"/>
            <a:ext cx="1874520" cy="1874520"/>
          </a:xfrm>
          <a:prstGeom prst="roundRect">
            <a:avLst/>
          </a:prstGeom>
          <a:solidFill>
            <a:srgbClr val="EEF8F2"/>
          </a:solidFill>
          <a:ln w="15240">
            <a:solidFill>
              <a:srgbClr val="2F855A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02 需求结构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身份与权限治理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占需求的 46%</a:t>
            </a:r>
          </a:p>
        </p:txBody>
      </p:sp>
      <p:sp>
        <p:nvSpPr>
          <p:cNvPr id="100004" name="TextBox 5"/>
          <p:cNvSpPr/>
          <p:nvPr/>
        </p:nvSpPr>
        <p:spPr>
          <a:xfrm>
            <a:off x="4754880" y="2834640"/>
            <a:ext cx="1874520" cy="1874520"/>
          </a:xfrm>
          <a:prstGeom prst="roundRect">
            <a:avLst/>
          </a:prstGeom>
          <a:solidFill>
            <a:srgbClr val="FFF4E6"/>
          </a:solidFill>
          <a:ln w="15240">
            <a:solidFill>
              <a:srgbClr val="DD6B20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03 风险优先级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提示注入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工具权限滥用</a:t>
            </a:r>
          </a:p>
        </p:txBody>
      </p:sp>
      <p:sp>
        <p:nvSpPr>
          <p:cNvPr id="100005" name="TextBox 6"/>
          <p:cNvSpPr/>
          <p:nvPr/>
        </p:nvSpPr>
        <p:spPr>
          <a:xfrm>
            <a:off x="6812280" y="2834640"/>
            <a:ext cx="1874520" cy="1874520"/>
          </a:xfrm>
          <a:prstGeom prst="roundRect">
            <a:avLst/>
          </a:prstGeom>
          <a:solidFill>
            <a:srgbClr val="F3E8FF"/>
          </a:solidFill>
          <a:ln w="15240">
            <a:solidFill>
              <a:srgbClr val="7E22CE"/>
            </a:solidFill>
            <a:prstDash val="solid"/>
          </a:ln>
        </p:spPr>
        <p:txBody>
          <a:bodyPr/>
          <a:lstStyle/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04 下一步行动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第一优先行动</a:t>
            </a:r>
          </a:p>
          <a:p>
            <a:r>
              <a:rPr lang="en-US" sz="1600">
                <a:solidFill>
                  <a:srgbClr val="1F2937"/>
                </a:solidFill>
                <a:ea typeface="Noto Sans CJK SC"/>
              </a:rPr>
              <a:t>建立工具调用审计</a:t>
            </a:r>
          </a:p>
        </p:txBody>
      </p:sp>
    </p:spTree>
  </p:cSld>
</p:sld>
</file>

<file path=ppt/slides/slide3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摘要｜核心结论</a:t>
            </a:r>
          </a:p>
        </p:txBody>
      </p:sp>
      <p:sp>
        <p:nvSpPr>
          <p:cNvPr id="100006" name="TextBox 2"/>
          <p:cNvSpPr txBox="1"/>
          <p:nvPr/>
        </p:nvSpPr>
        <p:spPr>
          <a:xfrm>
            <a:off x="822960" y="1463040"/>
            <a:ext cx="7772400" cy="36576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2026 年 AI Agent 安全市场规模为 18.4 亿元</a:t>
            </a:r>
          </a:p>
          <a:p>
            <a:r>
              <a:rPr lang="en-US" sz="2000">
                <a:ea typeface="Noto Sans CJK SC"/>
              </a:rPr>
              <a:t>企业试点渗透率为 37%</a:t>
            </a:r>
          </a:p>
          <a:p>
            <a:r>
              <a:rPr lang="en-US" sz="2000">
                <a:ea typeface="Noto Sans CJK SC"/>
              </a:rPr>
              <a:t>身份与权限治理占需求的 46%</a:t>
            </a:r>
          </a:p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slides/slide4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数据表｜细分需求对比</a:t>
            </a:r>
          </a:p>
        </p:txBody>
      </p:sp>
      <p:graphicFrame>
        <p:nvGraphicFramePr>
          <p:cNvPr id="100007" name="Table 1"/>
          <p:cNvGraphicFramePr/>
          <p:nvPr/>
        </p:nvGraphicFramePr>
        <p:xfrm>
          <a:off x="640080" y="1371600"/>
          <a:ext cx="7863840" cy="2926080"/>
        </p:xfrm>
        <a:graphic>
          <a:graphicData uri="http://schemas.openxmlformats.org/drawingml/2006/table">
            <a:tbl>
              <a:tblPr firstRow="1" bandRow="1"/>
              <a:tblGrid>
                <a:gridCol w="2621280"/>
                <a:gridCol w="2621280"/>
                <a:gridCol w="2621280"/>
              </a:tblGrid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细分需求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需求占比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建议控制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4472C4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身份与权限治理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46%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最小权限与强制审批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提示注入防护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高优先级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输入隔离与策略检测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  <a:tr h="731520">
                <a:tc>
                  <a:txBody>
                    <a:bodyPr/>
                    <a:lstStyle/>
                    <a:p>
                      <a:r>
                        <a:rPr lang="en-US"/>
                        <a:t>工具调用审计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第一优先行动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  <a:tc>
                  <a:txBody>
                    <a:bodyPr/>
                    <a:lstStyle/>
                    <a:p>
                      <a:r>
                        <a:rPr lang="en-US"/>
                        <a:t>记录参数、结果与责任主体</a:t>
                      </a:r>
                    </a:p>
                  </a:txBody>
                  <a:tcPr>
                    <a:lnL w="12700">
                      <a:solidFill>
                        <a:srgbClr val="666666"/>
                      </a:solidFill>
                      <a:prstDash val="solid"/>
                    </a:lnL>
                    <a:lnR w="12700">
                      <a:solidFill>
                        <a:srgbClr val="666666"/>
                      </a:solidFill>
                      <a:prstDash val="solid"/>
                    </a:lnR>
                    <a:lnT w="12700">
                      <a:solidFill>
                        <a:srgbClr val="666666"/>
                      </a:solidFill>
                      <a:prstDash val="solid"/>
                    </a:lnT>
                    <a:lnB w="12700">
                      <a:solidFill>
                        <a:srgbClr val="666666"/>
                      </a:solidFill>
                      <a:prstDash val="solid"/>
                    </a:lnB>
                    <a:solidFill>
                      <a:srgbClr val="F4F6FA"/>
                    </a:solidFill>
                  </a:tcPr>
                </a:tc>
              </a:tr>
            </a:tbl>
          </a:graphicData>
        </a:graphic>
      </p:graphicFrame>
    </p:spTree>
  </p:cSld>
</p:sld>
</file>

<file path=ppt/slides/slide5.xml><?xml version="1.0" encoding="utf-8"?>
<p:sld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数据图｜市场规模与渗透率</a:t>
            </a:r>
          </a:p>
        </p:txBody>
      </p:sp>
      <p:graphicFrame>
        <p:nvGraphicFramePr>
          <p:cNvPr id="100008" name="市场指标"/>
          <p:cNvGraphicFramePr/>
          <p:nvPr/>
        </p:nvGraphicFramePr>
        <p:xfrm>
          <a:off x="914400" y="1371600"/>
          <a:ext cx="7315200" cy="3657600"/>
        </p:xfrm>
        <a:graphic>
          <a:graphicData uri="http://schemas.openxmlformats.org/drawingml/2006/chart">
            <c:chart xmlns:r="http://schemas.openxmlformats.org/officeDocument/2006/relationships" xmlns:c="http://schemas.openxmlformats.org/drawingml/2006/chart" r:id="R7d7c7eba21704c8a"/>
          </a:graphicData>
        </a:graphic>
      </p:graphicFrame>
    </p:spTree>
  </p:cSld>
</p:sld>
</file>

<file path=ppt/slides/slide6.xml><?xml version="1.0" encoding="utf-8"?>
<p:sld xmlns:r="http://schemas.openxmlformats.org/officeDocument/2006/relationships" xmlns:a="http://schemas.openxmlformats.org/drawingml/2006/main" xmlns:p="http://schemas.openxmlformats.org/presentationml/2006/main">
  <p:cSld>
    <p:spTree>
      <p:nvGrpSpPr>
        <p:cNvPr id="1" name=""/>
        <p:cNvGrpSpPr/>
        <p:nvPr/>
      </p:nvGrpSpPr>
      <p:grpSpPr/>
      <p:sp>
        <p:nvSpPr>
          <p:cNvPr id="2" name="Title"/>
          <p:cNvSpPr/>
          <p:nvPr>
            <p:ph type="title"/>
          </p:nvPr>
        </p:nvSpPr>
        <p:spPr>
          <a:xfrm xmlns:a="http://schemas.openxmlformats.org/drawingml/2006/main">
            <a:off x="838200" y="365125"/>
            <a:ext cx="10515600" cy="1320800"/>
          </a:xfr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rPr lang="en-US"/>
              <a:t>图片｜安全控制图示</a:t>
            </a:r>
          </a:p>
        </p:txBody>
      </p:sp>
      <p:pic>
        <p:nvPicPr>
          <p:cNvPr id="100009" name="Picture 1" descr="AI Agent 安全控制图示"/>
          <p:cNvPicPr>
            <a:picLocks noChangeAspect="1"/>
          </p:cNvPicPr>
          <p:nvPr/>
        </p:nvPicPr>
        <p:blipFill>
          <a:blip xmlns:r="http://schemas.openxmlformats.org/officeDocument/2006/relationships" r:embed="R83b9ae9207ea439b"/>
          <a:stretch>
            <a:fillRect/>
          </a:stretch>
        </p:blipFill>
        <p:spPr>
          <a:xfrm>
            <a:off x="640080" y="1188720"/>
            <a:ext cx="2926080" cy="1645920"/>
          </a:xfrm>
          <a:prstGeom prst="rect">
            <a:avLst/>
          </a:prstGeom>
        </p:spPr>
      </p:pic>
      <p:sp>
        <p:nvSpPr>
          <p:cNvPr id="100010" name="TextBox 2"/>
          <p:cNvSpPr txBox="1"/>
          <p:nvPr/>
        </p:nvSpPr>
        <p:spPr>
          <a:xfrm>
            <a:off x="3840480" y="1371600"/>
            <a:ext cx="4572000" cy="2286000"/>
          </a:xfrm>
          <a:prstGeom prst="rect">
            <a:avLst/>
          </a:prstGeom>
        </p:spPr>
        <p:txBody>
          <a:bodyPr/>
          <a:lstStyle/>
          <a:p>
            <a:r>
              <a:rPr lang="en-US" sz="2000">
                <a:ea typeface="Noto Sans CJK SC"/>
              </a:rPr>
              <a:t>高优先级风险是提示注入与工具权限滥用</a:t>
            </a:r>
          </a:p>
          <a:p>
            <a:r>
              <a:rPr lang="en-US" sz="2000">
                <a:ea typeface="Noto Sans CJK SC"/>
              </a:rPr>
              <a:t>第一优先行动是建立工具调用审计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solidFill>
          <a:schemeClr val="phClr"/>
        </a:solidFill>
        <a:solidFill>
          <a:schemeClr val="phClr"/>
        </a:solidFill>
      </a:fillStyleLst>
      <a:lnStyleLst>
        <a:ln w="6350" cap="flat">
          <a:solidFill>
            <a:schemeClr val="phClr"/>
          </a:solidFill>
        </a:ln>
        <a:ln w="12700" cap="flat">
          <a:solidFill>
            <a:schemeClr val="phClr"/>
          </a:solidFill>
        </a:ln>
        <a:ln w="19050" cap="flat">
          <a:solidFill>
            <a:schemeClr val="phClr"/>
          </a:solidFill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phClr"/>
        </a:solidFill>
        <a:solidFill>
          <a:schemeClr val="phClr"/>
        </a:solidFill>
        <a:solidFill>
          <a:schemeClr val="phClr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OfficeCLI/1.0.152</ap:Application>
</ap: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:creator>OfficeCLI</dc:creator>
  <dcterms:created xsi:type="dcterms:W3CDTF">2026-09-28T11:27:33Z</dcterms:created>
  <cp:lastModifiedBy>OfficeCLI</cp:lastModifiedBy>
  <dcterms:modified xsi:type="dcterms:W3CDTF">2026-09-28T11:27:33Z</dcterms:modified>
</cp:coreProperties>
</file>

<file path=docProps/custom.xml><?xml version="1.0" encoding="utf-8"?>
<op:Properties xmlns:op="http://schemas.openxmlformats.org/officeDocument/2006/custom-properties">
  <op:property fmtid="{D5CDD505-2E9C-101B-9397-08002B2CF9AE}" pid="2" name="OfficeCLI.Version">
    <vt:lpwstr xmlns:vt="http://schemas.openxmlformats.org/officeDocument/2006/docPropsVTypes">1.0.152</vt:lpwstr>
  </op:property>
  <op:property fmtid="{D5CDD505-2E9C-101B-9397-08002B2CF9AE}" pid="3" name="OfficeCLI.LastModified">
    <vt:lpwstr xmlns:vt="http://schemas.openxmlformats.org/officeDocument/2006/docPropsVTypes">2026-09-28T11:27:51Z</vt:lpwstr>
  </op:property>
</op:Properties>
</file>