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33ca27a24e3f4878" /><Relationship Type="http://schemas.openxmlformats.org/package/2006/relationships/metadata/core-properties" Target="/docProps/core.xml" Id="R6d771dc0b59e461b" /><Relationship Type="http://schemas.openxmlformats.org/officeDocument/2006/relationships/extended-properties" Target="/docProps/app.xml" Id="R192cec3efd044265" /><Relationship Type="http://schemas.openxmlformats.org/officeDocument/2006/relationships/custom-properties" Target="/docProps/custom.xml" Id="R72413186b91a4e86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fd74aab1de854d1a"/>
    <p:sldId id="257" r:id="Re1b3e4e36fc14f4f"/>
    <p:sldId id="258" r:id="R0e48d687bf294234"/>
    <p:sldId id="259" r:id="R49beffb21115438b"/>
    <p:sldId id="260" r:id="R13eb7ef5a5744dff"/>
    <p:sldId id="261" r:id="R60b013a58f7640af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fd74aab1de854d1a" /><Relationship Type="http://schemas.openxmlformats.org/officeDocument/2006/relationships/slide" Target="/ppt/slides/slide2.xml" Id="Re1b3e4e36fc14f4f" /><Relationship Type="http://schemas.openxmlformats.org/officeDocument/2006/relationships/slide" Target="/ppt/slides/slide3.xml" Id="R0e48d687bf294234" /><Relationship Type="http://schemas.openxmlformats.org/officeDocument/2006/relationships/slide" Target="/ppt/slides/slide4.xml" Id="R49beffb21115438b" /><Relationship Type="http://schemas.openxmlformats.org/officeDocument/2006/relationships/slide" Target="/ppt/slides/slide5.xml" Id="R13eb7ef5a5744dff" /><Relationship Type="http://schemas.openxmlformats.org/officeDocument/2006/relationships/slide" Target="/ppt/slides/slide6.xml" Id="R60b013a58f7640af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8b56e669b14c2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7a5b9299a64b4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707833f6de491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3fb4f2c0f04f8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49093e1e714725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8c99cbbfa0b1476a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4c234b7ab844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ec515b1c4147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1dacc145a54e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9f74e87067445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6767df39304f44" /><Relationship Type="http://schemas.openxmlformats.org/officeDocument/2006/relationships/chart" Target="/ppt/slides/charts/chart1.xml" Id="R6b114233f86d41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14c071a7784513" /><Relationship Type="http://schemas.openxmlformats.org/officeDocument/2006/relationships/image" Target="/ppt/media/image.png" Id="Rf93bfecacd6e4743" /></Relationships>
</file>

<file path=ppt/slides/charts/chart1.xml><?xml version="1.0" encoding="utf-8"?>
<c:chartSpace xmlns:c="http://schemas.openxmlformats.org/drawingml/2006/chart">
  <c:date1904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/>
            </a:pPr>
            <a:r>
              <a:rPr lang="en-US" sz="1400" b="1"/>
              <a:t>市场指标</a:t>
            </a:r>
          </a:p>
        </c:rich>
      </c:tx>
      <c:overlay val="0"/>
    </c:title>
    <c:plotArea>
      <c:layout/>
      <c:barChart>
        <c:barDir val="col"/>
        <c:grouping val="clustered"/>
        <c:varyColors val="0"/>
        <c:ser>
          <c:idx val="0"/>
          <c:order val="0"/>
          <c:tx>
            <c:v>市场指标</c:v>
          </c:tx>
          <c:spPr>
            <a:solidFill xmlns:a="http://schemas.openxmlformats.org/drawingml/2006/main">
              <a:srgbClr val="4472C4"/>
            </a:solidFill>
          </c:spPr>
          <c:invertIfNegative val="0"/>
          <c:cat>
            <c:strLit>
              <c:ptCount val="2"/>
              <c:pt idx="0">
                <c:v>市场规模（亿元）</c:v>
              </c:pt>
              <c:pt idx="1">
                <c:v>企业试点渗透率（%）</c:v>
              </c:pt>
            </c:strLit>
          </c:cat>
          <c:val>
            <c:numLit>
              <c:formatCode>General</c:formatCode>
              <c:ptCount val="2"/>
              <c:pt idx="0">
                <c:v>18.4</c:v>
              </c:pt>
              <c:pt idx="1">
                <c:v>37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legend>
      <c:legendPos val="b"/>
      <c:overlay val="0"/>
    </c:legend>
    <c:plotVisOnly val="1"/>
    <c:dispBlanksAs val="gap"/>
  </c:chart>
</c:chartSpace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EAF2FF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封面｜AI Agent 安全市场</a:t>
            </a:r>
          </a:p>
        </p:txBody>
      </p:sp>
      <p:sp>
        <p:nvSpPr>
          <p:cNvPr id="100000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400">
                <a:solidFill>
                  <a:srgbClr val="1F2937"/>
                </a:solidFill>
                <a:latin typeface="Aptos"/>
                <a:ea typeface="Noto Sans CJK SC"/>
              </a:rPr>
              <a:t>从市场机会到可审计的工具调用治理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议程｜市场机会与风险</a:t>
            </a:r>
          </a:p>
        </p:txBody>
      </p:sp>
      <p:sp>
        <p:nvSpPr>
          <p:cNvPr id="100001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>
                <a:ea typeface="Noto Sans CJK SC"/>
              </a:rPr>
              <a:t>市场规模、需求结构、风险优先级与下一步行动</a:t>
            </a:r>
          </a:p>
        </p:txBody>
      </p:sp>
      <p:sp>
        <p:nvSpPr>
          <p:cNvPr id="100002" name="TextBox 3"/>
          <p:cNvSpPr/>
          <p:nvPr/>
        </p:nvSpPr>
        <p:spPr>
          <a:xfrm>
            <a:off x="640080" y="2834640"/>
            <a:ext cx="1874520" cy="1874520"/>
          </a:xfrm>
          <a:prstGeom prst="roundRect">
            <a:avLst/>
          </a:prstGeom>
          <a:solidFill>
            <a:srgbClr val="EAF2FF"/>
          </a:solidFill>
          <a:ln w="15240">
            <a:solidFill>
              <a:srgbClr val="4472C4"/>
            </a:solidFill>
            <a:prstDash val="solid"/>
          </a:ln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01 市场规模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2026 年市场规模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18.4 亿元｜试点 37%</a:t>
            </a:r>
          </a:p>
        </p:txBody>
      </p:sp>
      <p:sp>
        <p:nvSpPr>
          <p:cNvPr id="100003" name="TextBox 4"/>
          <p:cNvSpPr/>
          <p:nvPr/>
        </p:nvSpPr>
        <p:spPr>
          <a:xfrm>
            <a:off x="2697480" y="2834640"/>
            <a:ext cx="1874520" cy="1874520"/>
          </a:xfrm>
          <a:prstGeom prst="roundRect">
            <a:avLst/>
          </a:prstGeom>
          <a:solidFill>
            <a:srgbClr val="EEF8F2"/>
          </a:solidFill>
          <a:ln w="15240">
            <a:solidFill>
              <a:srgbClr val="2F855A"/>
            </a:solidFill>
            <a:prstDash val="solid"/>
          </a:ln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02 需求结构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身份与权限治理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占需求的 46%</a:t>
            </a:r>
          </a:p>
        </p:txBody>
      </p:sp>
      <p:sp>
        <p:nvSpPr>
          <p:cNvPr id="100004" name="TextBox 5"/>
          <p:cNvSpPr/>
          <p:nvPr/>
        </p:nvSpPr>
        <p:spPr>
          <a:xfrm>
            <a:off x="4754880" y="2834640"/>
            <a:ext cx="1874520" cy="1874520"/>
          </a:xfrm>
          <a:prstGeom prst="roundRect">
            <a:avLst/>
          </a:prstGeom>
          <a:solidFill>
            <a:srgbClr val="FFF4E6"/>
          </a:solidFill>
          <a:ln w="15240">
            <a:solidFill>
              <a:srgbClr val="DD6B20"/>
            </a:solidFill>
            <a:prstDash val="solid"/>
          </a:ln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03 风险优先级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提示注入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工具权限滥用</a:t>
            </a:r>
          </a:p>
        </p:txBody>
      </p:sp>
      <p:sp>
        <p:nvSpPr>
          <p:cNvPr id="100005" name="TextBox 6"/>
          <p:cNvSpPr/>
          <p:nvPr/>
        </p:nvSpPr>
        <p:spPr>
          <a:xfrm>
            <a:off x="6812280" y="2834640"/>
            <a:ext cx="1874520" cy="1874520"/>
          </a:xfrm>
          <a:prstGeom prst="roundRect">
            <a:avLst/>
          </a:prstGeom>
          <a:solidFill>
            <a:srgbClr val="F3E8FF"/>
          </a:solidFill>
          <a:ln w="15240">
            <a:solidFill>
              <a:srgbClr val="7E22CE"/>
            </a:solidFill>
            <a:prstDash val="solid"/>
          </a:ln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04 下一步行动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第一优先行动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建立工具调用审计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摘要｜核心结论</a:t>
            </a:r>
          </a:p>
        </p:txBody>
      </p:sp>
      <p:sp>
        <p:nvSpPr>
          <p:cNvPr id="100006" name="TextBox 2"/>
          <p:cNvSpPr txBox="1"/>
          <p:nvPr/>
        </p:nvSpPr>
        <p:spPr>
          <a:xfrm>
            <a:off x="822960" y="1463040"/>
            <a:ext cx="7772400" cy="3657600"/>
          </a:xfrm>
          <a:prstGeom prst="rect">
            <a:avLst/>
          </a:prstGeom>
        </p:spPr>
        <p:txBody>
          <a:bodyPr/>
          <a:lstStyle/>
          <a:p>
            <a:r>
              <a:rPr lang="en-US" sz="2000">
                <a:ea typeface="Noto Sans CJK SC"/>
              </a:rPr>
              <a:t>2026 年 AI Agent 安全市场规模为 18.4 亿元</a:t>
            </a:r>
          </a:p>
          <a:p>
            <a:r>
              <a:rPr lang="en-US" sz="2000">
                <a:ea typeface="Noto Sans CJK SC"/>
              </a:rPr>
              <a:t>企业试点渗透率为 37%</a:t>
            </a:r>
          </a:p>
          <a:p>
            <a:r>
              <a:rPr lang="en-US" sz="2000">
                <a:ea typeface="Noto Sans CJK SC"/>
              </a:rPr>
              <a:t>身份与权限治理占需求的 46%</a:t>
            </a:r>
          </a:p>
          <a:p>
            <a:r>
              <a:rPr lang="en-US" sz="2000">
                <a:ea typeface="Noto Sans CJK SC"/>
              </a:rPr>
              <a:t>高优先级风险是提示注入与工具权限滥用</a:t>
            </a:r>
          </a:p>
          <a:p>
            <a:r>
              <a:rPr lang="en-US" sz="2000">
                <a:ea typeface="Noto Sans CJK SC"/>
              </a:rPr>
              <a:t>第一优先行动是建立工具调用审计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数据表｜细分需求对比</a:t>
            </a:r>
          </a:p>
        </p:txBody>
      </p:sp>
      <p:graphicFrame>
        <p:nvGraphicFramePr>
          <p:cNvPr id="100007" name="Table 1"/>
          <p:cNvGraphicFramePr/>
          <p:nvPr/>
        </p:nvGraphicFramePr>
        <p:xfrm>
          <a:off x="640080" y="1371600"/>
          <a:ext cx="7863840" cy="2926080"/>
        </p:xfrm>
        <a:graphic>
          <a:graphicData uri="http://schemas.openxmlformats.org/drawingml/2006/table">
            <a:tbl>
              <a:tblPr firstRow="1" bandRow="1"/>
              <a:tblGrid>
                <a:gridCol w="2621280"/>
                <a:gridCol w="2621280"/>
                <a:gridCol w="2621280"/>
              </a:tblGrid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细分需求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需求占比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建议控制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身份与权限治理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46%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最小权限与强制审批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提示注入防护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高优先级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输入隔离与策略检测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工具调用审计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第一优先行动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记录参数、结果与责任主体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数据图｜市场规模与渗透率</a:t>
            </a:r>
          </a:p>
        </p:txBody>
      </p:sp>
      <p:graphicFrame>
        <p:nvGraphicFramePr>
          <p:cNvPr id="100008" name="市场指标"/>
          <p:cNvGraphicFramePr/>
          <p:nvPr/>
        </p:nvGraphicFramePr>
        <p:xfrm>
          <a:off x="914400" y="1371600"/>
          <a:ext cx="7315200" cy="3657600"/>
        </p:xfrm>
        <a:graphic>
          <a:graphicData uri="http://schemas.openxmlformats.org/drawingml/2006/chart">
            <c:chart xmlns:r="http://schemas.openxmlformats.org/officeDocument/2006/relationships" xmlns:c="http://schemas.openxmlformats.org/drawingml/2006/chart" r:id="R6b114233f86d4123"/>
          </a:graphicData>
        </a:graphic>
      </p:graphicFrame>
    </p:spTree>
  </p:cSld>
</p:sld>
</file>

<file path=ppt/slides/slide6.xml><?xml version="1.0" encoding="utf-8"?>
<p:sld xmlns:r="http://schemas.openxmlformats.org/officeDocument/2006/relationships"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图片｜安全控制图示</a:t>
            </a:r>
          </a:p>
        </p:txBody>
      </p:sp>
      <p:pic>
        <p:nvPicPr>
          <p:cNvPr id="100009" name="Picture 1" descr="AI Agent 安全控制图示"/>
          <p:cNvPicPr>
            <a:picLocks noChangeAspect="1"/>
          </p:cNvPicPr>
          <p:nvPr/>
        </p:nvPicPr>
        <p:blipFill>
          <a:blip xmlns:r="http://schemas.openxmlformats.org/officeDocument/2006/relationships" r:embed="Rf93bfecacd6e4743"/>
          <a:stretch>
            <a:fillRect/>
          </a:stretch>
        </p:blipFill>
        <p:spPr>
          <a:xfrm>
            <a:off x="640080" y="1188720"/>
            <a:ext cx="2926080" cy="1645920"/>
          </a:xfrm>
          <a:prstGeom prst="rect">
            <a:avLst/>
          </a:prstGeom>
        </p:spPr>
      </p:pic>
      <p:sp>
        <p:nvSpPr>
          <p:cNvPr id="100010" name="TextBox 2"/>
          <p:cNvSpPr txBox="1"/>
          <p:nvPr/>
        </p:nvSpPr>
        <p:spPr>
          <a:xfrm>
            <a:off x="3840480" y="1371600"/>
            <a:ext cx="4572000" cy="2286000"/>
          </a:xfrm>
          <a:prstGeom prst="rect">
            <a:avLst/>
          </a:prstGeom>
        </p:spPr>
        <p:txBody>
          <a:bodyPr/>
          <a:lstStyle/>
          <a:p>
            <a:r>
              <a:rPr lang="en-US" sz="2000">
                <a:ea typeface="Noto Sans CJK SC"/>
              </a:rPr>
              <a:t>高优先级风险是提示注入与工具权限滥用</a:t>
            </a:r>
          </a:p>
          <a:p>
            <a:r>
              <a:rPr lang="en-US" sz="2000">
                <a:ea typeface="Noto Sans CJK SC"/>
              </a:rPr>
              <a:t>第一优先行动是建立工具调用审计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等线"/>
        <a:cs typeface=""/>
      </a:majorFont>
      <a:minorFont>
        <a:latin typeface="Calibri"/>
        <a:ea typeface="等线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OfficeCLI/1.0.152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2026-09-28T09:10:00Z</dcterms:created>
  <cp:lastModifiedBy>OfficeCLI</cp:lastModifiedBy>
  <dcterms:modified xsi:type="dcterms:W3CDTF">2026-09-28T09:10:00Z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1.0.152</vt:lpwstr>
  </op:property>
  <op:property fmtid="{D5CDD505-2E9C-101B-9397-08002B2CF9AE}" pid="3" name="OfficeCLI.LastModified">
    <vt:lpwstr xmlns:vt="http://schemas.openxmlformats.org/officeDocument/2006/docPropsVTypes">2026-09-28T09:10:41Z</vt:lpwstr>
  </op:property>
</op:Properties>
</file>